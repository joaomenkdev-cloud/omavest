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Quantidade</c:v>
                </c:pt>
              </c:strCache>
            </c:strRef>
          </c:tx>
          <c:spPr>
            <a:solidFill>
              <a:srgbClr val="275E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E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5E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8D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A6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55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Endpoints</c:v>
                  </c:pt>
                  <c:pt idx="1">
                    <c:v>Entidades</c:v>
                  </c:pt>
                  <c:pt idx="2">
                    <c:v>Telas web</c:v>
                  </c:pt>
                  <c:pt idx="3">
                    <c:v>Telas app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14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2E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7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7F4"/>
        </a:solidFill>
        <a:ln>
          <a:noFill/>
        </a:ln>
        <a:effectLst/>
      </c:spPr>
    </c:plotArea>
    <c:plotVisOnly val="1"/>
    <c:dispBlanksAs val="span"/>
  </c:chart>
  <c:spPr>
    <a:solidFill>
      <a:srgbClr val="F5F7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828800"/>
            <a:ext cx="5669280" cy="5669280"/>
          </a:xfrm>
          <a:prstGeom prst="ellipse">
            <a:avLst/>
          </a:prstGeom>
          <a:solidFill>
            <a:srgbClr val="14241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4206240" cy="4206240"/>
          </a:xfrm>
          <a:prstGeom prst="ellipse">
            <a:avLst/>
          </a:prstGeom>
          <a:solidFill>
            <a:srgbClr val="275E4C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4241E"/>
          </a:solidFill>
          <a:ln/>
        </p:spPr>
      </p:sp>
      <p:pic>
        <p:nvPicPr>
          <p:cNvPr id="5" name="Image 0" descr="D:\joaomenkdev-cloud\Projetos-pessoais\Sites\Etec\L-hub\apresentacao-tcc/images/logo-omavest-e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1371600" cy="1243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8412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D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PREPARAÇÃO PARA VESTIBULARES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8595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integrada de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 do vestibular e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preparação do candidato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solução web e mobile que digitaliza todo o processo seletivo — da inscrição ao resultado — e aproxima a instituição do estudante.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623560"/>
            <a:ext cx="7680960" cy="0"/>
          </a:xfrm>
          <a:prstGeom prst="line">
            <a:avLst/>
          </a:prstGeom>
          <a:noFill/>
          <a:ln w="19050">
            <a:solidFill>
              <a:srgbClr val="275E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7607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</a:t>
            </a:r>
            <a:pPr indent="0" marL="0">
              <a:buNone/>
            </a:pPr>
            <a:r>
              <a:rPr lang="en-US" sz="13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1]  ·  [Nome 2]  ·  [Nome 3]  ·  [Nome 4]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10819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Orientador(a): [Nome]      </a:t>
            </a:r>
            <a:pPr indent="0" marL="0">
              <a:buNone/>
            </a:pPr>
            <a:r>
              <a:rPr lang="en-US" sz="1200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[Curso] — [Instituição] — [Cidade / 2026]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ROTEIRO DA APRESENTAÇÃO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mostrar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12848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4709160" y="2304288"/>
            <a:ext cx="868680" cy="86868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3704" y="2538832"/>
            <a:ext cx="399593" cy="399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3774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&amp; objetivos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65960" y="31272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Apresentador 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192024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19672" y="2212848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600" dirty="0"/>
          </a:p>
        </p:txBody>
      </p:sp>
      <p:sp>
        <p:nvSpPr>
          <p:cNvPr id="12" name="Shape 9"/>
          <p:cNvSpPr/>
          <p:nvPr/>
        </p:nvSpPr>
        <p:spPr>
          <a:xfrm>
            <a:off x="10360152" y="2304288"/>
            <a:ext cx="868680" cy="86868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696" y="2538832"/>
            <a:ext cx="399593" cy="3995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16952" y="23774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 &amp; o mercado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616952" y="312724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Apresentador 2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995928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288536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4709160" y="4379976"/>
            <a:ext cx="868680" cy="86868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704" y="4614520"/>
            <a:ext cx="399593" cy="3995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65960" y="4453128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Tecnologia &amp; arquitetura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965960" y="520293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Apresentador 3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99632" y="3995928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519672" y="4288536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600" dirty="0"/>
          </a:p>
        </p:txBody>
      </p:sp>
      <p:sp>
        <p:nvSpPr>
          <p:cNvPr id="24" name="Shape 19"/>
          <p:cNvSpPr/>
          <p:nvPr/>
        </p:nvSpPr>
        <p:spPr>
          <a:xfrm>
            <a:off x="10360152" y="4379976"/>
            <a:ext cx="868680" cy="86868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4696" y="4614520"/>
            <a:ext cx="399593" cy="3995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16952" y="4453128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&amp; conclusão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7616952" y="520293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Apresentador 4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&amp;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o vestibular ainda dói?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instituições privadas no Brasil realizam o próprio vestibular — quase sempre com processos manuais e ferramentas desconectadas.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15768"/>
            <a:ext cx="914400" cy="914400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962656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7947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Processos no papel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" y="4343400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 em planilha, comunicação solta por e-mail e edital impresso.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10712" y="233172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76472" y="2715768"/>
            <a:ext cx="914400" cy="914400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962656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7947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Banca é cara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03320" y="4343400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uma organizadora (Vunesp, Cebraspe) é inviável para faculdades pequenas.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72784" y="233172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38544" y="2715768"/>
            <a:ext cx="914400" cy="914400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962656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37947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Tudo fragmentado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65392" y="4343400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Pagamento, locais de prova e resultados vivem em sistemas separados.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134856" y="233172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00616" y="2715768"/>
            <a:ext cx="914400" cy="914400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2962656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27464" y="37947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Candidato perdido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427464" y="4343400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preparação fica dispersa em vários sites, sem ligação com o processo.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DO PROJETO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precisávamos entregar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0F1B17"/>
          </a:solidFill>
          <a:ln/>
          <a:effectLst>
            <a:outerShdw sx="100000" sy="100000" kx="0" ky="0" algn="bl" rotWithShape="0" blurRad="114300" dist="38100" dir="5400000">
              <a:srgbClr val="0F1B17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713232" cy="713232"/>
          </a:xfrm>
          <a:prstGeom prst="ellipse">
            <a:avLst/>
          </a:prstGeom>
          <a:solidFill>
            <a:srgbClr val="FFD5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253" y="2140245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10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0" y="21031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plataforma web e mobile que centralize a gestão do processo seletivo e a preparação do candidato em um único ecossistema.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66928" y="3154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ESPECÍFICOS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5468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895344"/>
            <a:ext cx="603504" cy="603504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06" y="4058290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3776472"/>
            <a:ext cx="40965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inscrição, pagamento, locais de prova, resultados e comunicação.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72200" y="3611880"/>
            <a:ext cx="5468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3895344"/>
            <a:ext cx="603504" cy="603504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466" y="4058290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9480" y="3776472"/>
            <a:ext cx="40965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simulados interativos e um banco de provas anteriores.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4946904"/>
            <a:ext cx="5468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5230368"/>
            <a:ext cx="603504" cy="603504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06" y="5393314"/>
            <a:ext cx="277612" cy="2776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5111496"/>
            <a:ext cx="40965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trabalho manual e o custo de operação da instituição.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172200" y="4946904"/>
            <a:ext cx="5468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46520" y="5230368"/>
            <a:ext cx="603504" cy="603504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466" y="5393314"/>
            <a:ext cx="277612" cy="2776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69480" y="5111496"/>
            <a:ext cx="40965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acesso pelo celular, inclusive sem internet.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OMAVEST: dois mundos em uma plataforma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9824" cy="1143000"/>
          </a:xfrm>
          <a:prstGeom prst="roundRect">
            <a:avLst>
              <a:gd name="adj" fmla="val 8000"/>
            </a:avLst>
          </a:prstGeom>
          <a:solidFill>
            <a:srgbClr val="DCEBE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83664"/>
            <a:ext cx="658368" cy="658368"/>
          </a:xfrm>
          <a:prstGeom prst="ellipse">
            <a:avLst/>
          </a:prstGeom>
          <a:solidFill>
            <a:srgbClr val="275E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061423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7373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da instituição
</a:t>
            </a:r>
            <a:pPr indent="0" marL="0">
              <a:buNone/>
            </a:pPr>
            <a:r>
              <a:rPr lang="en-US" sz="1200" dirty="0">
                <a:solidFill>
                  <a:srgbClr val="14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 do processo seletivo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90488" y="1645920"/>
            <a:ext cx="5449824" cy="1143000"/>
          </a:xfrm>
          <a:prstGeom prst="roundRect">
            <a:avLst>
              <a:gd name="adj" fmla="val 8000"/>
            </a:avLst>
          </a:prstGeom>
          <a:solidFill>
            <a:srgbClr val="FFF3CC"/>
          </a:solidFill>
          <a:ln/>
        </p:spPr>
      </p:sp>
      <p:sp>
        <p:nvSpPr>
          <p:cNvPr id="9" name="Shape 6"/>
          <p:cNvSpPr/>
          <p:nvPr/>
        </p:nvSpPr>
        <p:spPr>
          <a:xfrm>
            <a:off x="6464808" y="1883664"/>
            <a:ext cx="658368" cy="658368"/>
          </a:xfrm>
          <a:prstGeom prst="ellipse">
            <a:avLst/>
          </a:prstGeom>
          <a:solidFill>
            <a:srgbClr val="DCA60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567" y="2061423"/>
            <a:ext cx="302849" cy="3028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7373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do candidato
</a:t>
            </a:r>
            <a:pPr indent="0" marL="0">
              <a:buNone/>
            </a:pPr>
            <a:r>
              <a:rPr lang="en-US" sz="1200" dirty="0">
                <a:solidFill>
                  <a:srgbClr val="8A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Estudo, acompanhamento e resultado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3154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JORNADA DO CANDIDATO, DE PONTA A PONTA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1440180" y="4732020"/>
            <a:ext cx="9326880" cy="0"/>
          </a:xfrm>
          <a:prstGeom prst="line">
            <a:avLst/>
          </a:prstGeom>
          <a:noFill/>
          <a:ln w="25400">
            <a:solidFill>
              <a:srgbClr val="275E4C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868680" y="4160520"/>
            <a:ext cx="1143000" cy="1143000"/>
          </a:xfrm>
          <a:prstGeom prst="ellipse">
            <a:avLst/>
          </a:prstGeom>
          <a:solidFill>
            <a:srgbClr val="275E4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" y="4469130"/>
            <a:ext cx="525780" cy="5257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627632" y="4123944"/>
            <a:ext cx="420624" cy="420624"/>
          </a:xfrm>
          <a:prstGeom prst="ellipse">
            <a:avLst/>
          </a:prstGeom>
          <a:solidFill>
            <a:srgbClr val="DCA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627632" y="4123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11480" y="53766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Inscrição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3200400" y="4160520"/>
            <a:ext cx="1143000" cy="1143000"/>
          </a:xfrm>
          <a:prstGeom prst="ellipse">
            <a:avLst/>
          </a:prstGeom>
          <a:solidFill>
            <a:srgbClr val="DCA60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010" y="4469130"/>
            <a:ext cx="525780" cy="5257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959352" y="4123944"/>
            <a:ext cx="420624" cy="420624"/>
          </a:xfrm>
          <a:prstGeom prst="ellipse">
            <a:avLst/>
          </a:prstGeom>
          <a:solidFill>
            <a:srgbClr val="DCA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959352" y="4123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2743200" y="53766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Pagamento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532120" y="4160520"/>
            <a:ext cx="1143000" cy="1143000"/>
          </a:xfrm>
          <a:prstGeom prst="ellipse">
            <a:avLst/>
          </a:prstGeom>
          <a:solidFill>
            <a:srgbClr val="275E4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0730" y="4469130"/>
            <a:ext cx="525780" cy="52578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291072" y="4123944"/>
            <a:ext cx="420624" cy="420624"/>
          </a:xfrm>
          <a:prstGeom prst="ellipse">
            <a:avLst/>
          </a:prstGeom>
          <a:solidFill>
            <a:srgbClr val="DCA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291072" y="4123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074920" y="53766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Estudo + IA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7863840" y="4160520"/>
            <a:ext cx="1143000" cy="1143000"/>
          </a:xfrm>
          <a:prstGeom prst="ellipse">
            <a:avLst/>
          </a:prstGeom>
          <a:solidFill>
            <a:srgbClr val="DCA60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450" y="4469130"/>
            <a:ext cx="525780" cy="5257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622792" y="4123944"/>
            <a:ext cx="420624" cy="420624"/>
          </a:xfrm>
          <a:prstGeom prst="ellipse">
            <a:avLst/>
          </a:prstGeom>
          <a:solidFill>
            <a:srgbClr val="DCA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622792" y="4123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406640" y="53766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de prova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10195560" y="4160520"/>
            <a:ext cx="1143000" cy="1143000"/>
          </a:xfrm>
          <a:prstGeom prst="ellipse">
            <a:avLst/>
          </a:prstGeom>
          <a:solidFill>
            <a:srgbClr val="275E4C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4170" y="4469130"/>
            <a:ext cx="525780" cy="52578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10954512" y="4123944"/>
            <a:ext cx="420624" cy="420624"/>
          </a:xfrm>
          <a:prstGeom prst="ellipse">
            <a:avLst/>
          </a:prstGeom>
          <a:solidFill>
            <a:srgbClr val="DCA6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10954512" y="4123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9738360" y="537667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POSICIONAMENTO DE MERCADO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o OMAVEST se encaixa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OMAVEST atua na intersecção entre EdTech e gestão acadêmica — um espaço que hoje nenhuma solução cobre por completo.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81328" y="2377440"/>
            <a:ext cx="64008" cy="731520"/>
          </a:xfrm>
          <a:prstGeom prst="rect">
            <a:avLst/>
          </a:prstGeom>
          <a:solidFill>
            <a:srgbClr val="275E4C"/>
          </a:solidFill>
          <a:ln/>
        </p:spPr>
      </p:sp>
      <p:sp>
        <p:nvSpPr>
          <p:cNvPr id="7" name="Text 5"/>
          <p:cNvSpPr/>
          <p:nvPr/>
        </p:nvSpPr>
        <p:spPr>
          <a:xfrm>
            <a:off x="1755648" y="22860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27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</a:t>
            </a:r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EdTech + gestão acadêmica (modelo vertical SaaS).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481328" y="3364992"/>
            <a:ext cx="64008" cy="731520"/>
          </a:xfrm>
          <a:prstGeom prst="rect">
            <a:avLst/>
          </a:prstGeom>
          <a:solidFill>
            <a:srgbClr val="275E4C"/>
          </a:solidFill>
          <a:ln/>
        </p:spPr>
      </p:sp>
      <p:sp>
        <p:nvSpPr>
          <p:cNvPr id="10" name="Text 8"/>
          <p:cNvSpPr/>
          <p:nvPr/>
        </p:nvSpPr>
        <p:spPr>
          <a:xfrm>
            <a:off x="1755648" y="3273552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27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mercado se divide:</a:t>
            </a:r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bancas organizadoras (caras, p/ grandes volumes) e plataformas de preparação (focadas só no aluno).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26110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481328" y="4352544"/>
            <a:ext cx="64008" cy="731520"/>
          </a:xfrm>
          <a:prstGeom prst="rect">
            <a:avLst/>
          </a:prstGeom>
          <a:solidFill>
            <a:srgbClr val="275E4C"/>
          </a:solidFill>
          <a:ln/>
        </p:spPr>
      </p:sp>
      <p:sp>
        <p:nvSpPr>
          <p:cNvPr id="13" name="Text 11"/>
          <p:cNvSpPr/>
          <p:nvPr/>
        </p:nvSpPr>
        <p:spPr>
          <a:xfrm>
            <a:off x="1755648" y="4261104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27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nicho desatendido:</a:t>
            </a:r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faculdades pequenas e médias que precisam organizar o próprio vestibular sem contratar uma banca.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2486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481328" y="5340096"/>
            <a:ext cx="64008" cy="731520"/>
          </a:xfrm>
          <a:prstGeom prst="rect">
            <a:avLst/>
          </a:prstGeom>
          <a:solidFill>
            <a:srgbClr val="DCA60A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5248656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DCA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OMAVEST ocupa esse espaço</a:t>
            </a:r>
            <a:pPr indent="0" marL="0">
              <a:lnSpc>
                <a:spcPct val="102000"/>
              </a:lnSpc>
              <a:buNone/>
            </a:pPr>
            <a:r>
              <a:rPr lang="en-US" sz="16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unindo gestão institucional e preparação do aluno — acessível e em um só lugar.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PROPOSTA DE VALOR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 OMAVEST facilita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449824" cy="868680"/>
          </a:xfrm>
          <a:prstGeom prst="roundRect">
            <a:avLst>
              <a:gd name="adj" fmla="val 8421"/>
            </a:avLst>
          </a:prstGeom>
          <a:solidFill>
            <a:srgbClr val="0F1B1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5449824" cy="365760"/>
          </a:xfrm>
          <a:prstGeom prst="rect">
            <a:avLst/>
          </a:prstGeom>
          <a:solidFill>
            <a:srgbClr val="0F1B1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FFD5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1989277"/>
            <a:ext cx="273406" cy="2734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69164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a INSTITUIÇÃO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27889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trabalho manual e zero papel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baixo vs. contratar uma banca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comunicação centralizados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único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provas sem digitação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90488" y="1691640"/>
            <a:ext cx="5449824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90488" y="1691640"/>
            <a:ext cx="5449824" cy="868680"/>
          </a:xfrm>
          <a:prstGeom prst="roundRect">
            <a:avLst>
              <a:gd name="adj" fmla="val 8421"/>
            </a:avLst>
          </a:prstGeom>
          <a:solidFill>
            <a:srgbClr val="DCA60A"/>
          </a:solidFill>
          <a:ln/>
        </p:spPr>
      </p:sp>
      <p:sp>
        <p:nvSpPr>
          <p:cNvPr id="13" name="Shape 10"/>
          <p:cNvSpPr/>
          <p:nvPr/>
        </p:nvSpPr>
        <p:spPr>
          <a:xfrm>
            <a:off x="6190488" y="2194560"/>
            <a:ext cx="5449824" cy="365760"/>
          </a:xfrm>
          <a:prstGeom prst="rect">
            <a:avLst/>
          </a:prstGeom>
          <a:solidFill>
            <a:srgbClr val="DCA60A"/>
          </a:solidFill>
          <a:ln/>
        </p:spPr>
      </p:sp>
      <p:sp>
        <p:nvSpPr>
          <p:cNvPr id="14" name="Shape 11"/>
          <p:cNvSpPr/>
          <p:nvPr/>
        </p:nvSpPr>
        <p:spPr>
          <a:xfrm>
            <a:off x="6464808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285" y="1989277"/>
            <a:ext cx="273406" cy="2734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96328" y="169164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o CANDIDATO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56248" y="27889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 e pagamento em minutos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Simulados + provas anteriores + tutor 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cronograma, local e resultado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Comprovante e comunicados no mesmo lugar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no celular, mesmo sem internet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plataforma entrega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670048" cy="109728"/>
          </a:xfrm>
          <a:prstGeom prst="rect">
            <a:avLst/>
          </a:prstGeom>
          <a:solidFill>
            <a:srgbClr val="275E4C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148840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91" y="235869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99008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Inscrição + boleto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335584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completo, cotas e pagamento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1783080"/>
            <a:ext cx="2670048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712" y="1783080"/>
            <a:ext cx="2670048" cy="109728"/>
          </a:xfrm>
          <a:prstGeom prst="rect">
            <a:avLst/>
          </a:prstGeom>
          <a:solidFill>
            <a:srgbClr val="DCA60A"/>
          </a:solidFill>
          <a:ln/>
        </p:spPr>
      </p:sp>
      <p:sp>
        <p:nvSpPr>
          <p:cNvPr id="12" name="Shape 9"/>
          <p:cNvSpPr/>
          <p:nvPr/>
        </p:nvSpPr>
        <p:spPr>
          <a:xfrm>
            <a:off x="3721608" y="2148840"/>
            <a:ext cx="777240" cy="777240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463" y="235869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299008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Área do candidato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703320" y="335584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seguro e dashboard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72784" y="1783080"/>
            <a:ext cx="2670048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72784" y="1783080"/>
            <a:ext cx="2670048" cy="109728"/>
          </a:xfrm>
          <a:prstGeom prst="rect">
            <a:avLst/>
          </a:prstGeom>
          <a:solidFill>
            <a:srgbClr val="275E4C"/>
          </a:solidFill>
          <a:ln/>
        </p:spPr>
      </p:sp>
      <p:sp>
        <p:nvSpPr>
          <p:cNvPr id="18" name="Shape 14"/>
          <p:cNvSpPr/>
          <p:nvPr/>
        </p:nvSpPr>
        <p:spPr>
          <a:xfrm>
            <a:off x="6583680" y="2148840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35" y="2358695"/>
            <a:ext cx="357530" cy="3575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65392" y="299008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Simulados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565392" y="335584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interativo com correção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34856" y="1783080"/>
            <a:ext cx="2670048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34856" y="1783080"/>
            <a:ext cx="2670048" cy="109728"/>
          </a:xfrm>
          <a:prstGeom prst="rect">
            <a:avLst/>
          </a:prstGeom>
          <a:solidFill>
            <a:srgbClr val="DCA60A"/>
          </a:solidFill>
          <a:ln/>
        </p:spPr>
      </p:sp>
      <p:sp>
        <p:nvSpPr>
          <p:cNvPr id="24" name="Shape 19"/>
          <p:cNvSpPr/>
          <p:nvPr/>
        </p:nvSpPr>
        <p:spPr>
          <a:xfrm>
            <a:off x="9445752" y="2148840"/>
            <a:ext cx="777240" cy="777240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5607" y="2358695"/>
            <a:ext cx="357530" cy="3575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27464" y="2990088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Provas anteriores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427464" y="3355848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ENEM, FUVEST e UNICAMP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48640" y="3959352"/>
            <a:ext cx="2670048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48640" y="3959352"/>
            <a:ext cx="2670048" cy="109728"/>
          </a:xfrm>
          <a:prstGeom prst="rect">
            <a:avLst/>
          </a:prstGeom>
          <a:solidFill>
            <a:srgbClr val="275E4C"/>
          </a:solidFill>
          <a:ln/>
        </p:spPr>
      </p:sp>
      <p:sp>
        <p:nvSpPr>
          <p:cNvPr id="30" name="Shape 24"/>
          <p:cNvSpPr/>
          <p:nvPr/>
        </p:nvSpPr>
        <p:spPr>
          <a:xfrm>
            <a:off x="859536" y="4325112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391" y="4534967"/>
            <a:ext cx="357530" cy="3575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41248" y="51663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 com IA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841248" y="55321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questões como um professor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3410712" y="3959352"/>
            <a:ext cx="2670048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410712" y="3959352"/>
            <a:ext cx="2670048" cy="109728"/>
          </a:xfrm>
          <a:prstGeom prst="rect">
            <a:avLst/>
          </a:prstGeom>
          <a:solidFill>
            <a:srgbClr val="DCA60A"/>
          </a:solidFill>
          <a:ln/>
        </p:spPr>
      </p:sp>
      <p:sp>
        <p:nvSpPr>
          <p:cNvPr id="36" name="Shape 29"/>
          <p:cNvSpPr/>
          <p:nvPr/>
        </p:nvSpPr>
        <p:spPr>
          <a:xfrm>
            <a:off x="3721608" y="4325112"/>
            <a:ext cx="777240" cy="777240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463" y="4534967"/>
            <a:ext cx="357530" cy="35753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703320" y="51663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Cronograma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3703320" y="55321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de eventos do processo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6272784" y="3959352"/>
            <a:ext cx="2670048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272784" y="3959352"/>
            <a:ext cx="2670048" cy="109728"/>
          </a:xfrm>
          <a:prstGeom prst="rect">
            <a:avLst/>
          </a:prstGeom>
          <a:solidFill>
            <a:srgbClr val="275E4C"/>
          </a:solidFill>
          <a:ln/>
        </p:spPr>
      </p:sp>
      <p:sp>
        <p:nvSpPr>
          <p:cNvPr id="42" name="Shape 34"/>
          <p:cNvSpPr/>
          <p:nvPr/>
        </p:nvSpPr>
        <p:spPr>
          <a:xfrm>
            <a:off x="6583680" y="4325112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535" y="4534967"/>
            <a:ext cx="357530" cy="35753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565392" y="51663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Notícias &amp; editais</a:t>
            </a:r>
            <a:endParaRPr lang="en-US" sz="1550" dirty="0"/>
          </a:p>
        </p:txBody>
      </p:sp>
      <p:sp>
        <p:nvSpPr>
          <p:cNvPr id="45" name="Text 36"/>
          <p:cNvSpPr/>
          <p:nvPr/>
        </p:nvSpPr>
        <p:spPr>
          <a:xfrm>
            <a:off x="6565392" y="55321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oficiais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9134856" y="3959352"/>
            <a:ext cx="2670048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134856" y="3959352"/>
            <a:ext cx="2670048" cy="109728"/>
          </a:xfrm>
          <a:prstGeom prst="rect">
            <a:avLst/>
          </a:prstGeom>
          <a:solidFill>
            <a:srgbClr val="DCA60A"/>
          </a:solidFill>
          <a:ln/>
        </p:spPr>
      </p:sp>
      <p:sp>
        <p:nvSpPr>
          <p:cNvPr id="48" name="Shape 39"/>
          <p:cNvSpPr/>
          <p:nvPr/>
        </p:nvSpPr>
        <p:spPr>
          <a:xfrm>
            <a:off x="9445752" y="4325112"/>
            <a:ext cx="777240" cy="777240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5607" y="4534967"/>
            <a:ext cx="357530" cy="35753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427464" y="51663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Locais &amp; resultados</a:t>
            </a:r>
            <a:endParaRPr lang="en-US" sz="1550" dirty="0"/>
          </a:p>
        </p:txBody>
      </p:sp>
      <p:sp>
        <p:nvSpPr>
          <p:cNvPr id="51" name="Text 41"/>
          <p:cNvSpPr/>
          <p:nvPr/>
        </p:nvSpPr>
        <p:spPr>
          <a:xfrm>
            <a:off x="9427464" y="55321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Sala, mesa e classificação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DA 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as peças se conectam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337560" y="2788920"/>
            <a:ext cx="0" cy="502920"/>
          </a:xfrm>
          <a:prstGeom prst="line">
            <a:avLst/>
          </a:prstGeom>
          <a:noFill/>
          <a:ln w="25400">
            <a:solidFill>
              <a:srgbClr val="275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2788920"/>
            <a:ext cx="0" cy="502920"/>
          </a:xfrm>
          <a:prstGeom prst="line">
            <a:avLst/>
          </a:prstGeom>
          <a:noFill/>
          <a:ln w="25400">
            <a:solidFill>
              <a:srgbClr val="275E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3291840"/>
            <a:ext cx="5532120" cy="0"/>
          </a:xfrm>
          <a:prstGeom prst="line">
            <a:avLst/>
          </a:prstGeom>
          <a:noFill/>
          <a:ln w="25400">
            <a:solidFill>
              <a:srgbClr val="275E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48" y="3291840"/>
            <a:ext cx="0" cy="777240"/>
          </a:xfrm>
          <a:prstGeom prst="line">
            <a:avLst/>
          </a:prstGeom>
          <a:noFill/>
          <a:ln w="25400">
            <a:solidFill>
              <a:srgbClr val="275E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5074920"/>
            <a:ext cx="0" cy="457200"/>
          </a:xfrm>
          <a:prstGeom prst="line">
            <a:avLst/>
          </a:prstGeom>
          <a:noFill/>
          <a:ln w="25400">
            <a:solidFill>
              <a:srgbClr val="6E7A7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869680" y="5074920"/>
            <a:ext cx="0" cy="457200"/>
          </a:xfrm>
          <a:prstGeom prst="line">
            <a:avLst/>
          </a:prstGeom>
          <a:noFill/>
          <a:ln w="25400">
            <a:solidFill>
              <a:srgbClr val="6E7A7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337560" y="5532120"/>
            <a:ext cx="5532120" cy="0"/>
          </a:xfrm>
          <a:prstGeom prst="line">
            <a:avLst/>
          </a:prstGeom>
          <a:noFill/>
          <a:ln w="25400">
            <a:solidFill>
              <a:srgbClr val="6E7A7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417320" y="178308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91640" y="1920240"/>
            <a:ext cx="731520" cy="73152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150" y="2117750"/>
            <a:ext cx="336499" cy="33649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560320" y="17830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 (Firebase opcional)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49440" y="178308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23760" y="1920240"/>
            <a:ext cx="731520" cy="73152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270" y="2117750"/>
            <a:ext cx="336499" cy="33649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92440" y="17830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 · offline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3337560" y="4069080"/>
            <a:ext cx="5532120" cy="1005840"/>
          </a:xfrm>
          <a:prstGeom prst="roundRect">
            <a:avLst>
              <a:gd name="adj" fmla="val 9091"/>
            </a:avLst>
          </a:prstGeom>
          <a:solidFill>
            <a:srgbClr val="0F1B17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11880" y="4206240"/>
            <a:ext cx="731520" cy="731520"/>
          </a:xfrm>
          <a:prstGeom prst="ellipse">
            <a:avLst/>
          </a:prstGeom>
          <a:solidFill>
            <a:srgbClr val="FFD55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390" y="4403750"/>
            <a:ext cx="336499" cy="33649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80560" y="40690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ASP.NET Core (.NET 10)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Camadas: Controllers → Services · Swagger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1417320" y="553212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691640" y="5623560"/>
            <a:ext cx="731520" cy="73152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150" y="5821070"/>
            <a:ext cx="336499" cy="33649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560320" y="55321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SQLite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949440" y="553212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223760" y="5623560"/>
            <a:ext cx="731520" cy="731520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270" y="5821070"/>
            <a:ext cx="336499" cy="336499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092440" y="553212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externos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(IA) · PdfPig (PDF)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escolhas e o porquê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43684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103" y="2253539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783080"/>
            <a:ext cx="40507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/ C#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robusta, tipada e performática para o back-end.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172200" y="178308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64808" y="2043684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663" y="2253539"/>
            <a:ext cx="357530" cy="3575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79208" y="1783080"/>
            <a:ext cx="40507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EF Core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sem servidor: custo zero de operação e fácil de implantar.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48640" y="324612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41248" y="3506724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03" y="3716579"/>
            <a:ext cx="357530" cy="3575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55648" y="3246120"/>
            <a:ext cx="40507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só código gera o aplicativo Android nativo.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172200" y="324612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64808" y="3506724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663" y="3716579"/>
            <a:ext cx="357530" cy="3575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79208" y="3246120"/>
            <a:ext cx="40507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(opcional)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Google e verificação em 2 etapas (2FA).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41248" y="4969764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103" y="5179619"/>
            <a:ext cx="357530" cy="35753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55648" y="4709160"/>
            <a:ext cx="40507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Services → DbContext: organização e manutenção.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6172200" y="4709160"/>
            <a:ext cx="546811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64808" y="4969764"/>
            <a:ext cx="777240" cy="77724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4663" y="5179619"/>
            <a:ext cx="357530" cy="35753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379208" y="4709160"/>
            <a:ext cx="40507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interativa de todos os endpoints da API.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42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FD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DIFERENCIAIS TÉCNICOS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três trunfos do projeto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84448" cy="41605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17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3055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898648" y="2286000"/>
            <a:ext cx="868680" cy="868680"/>
          </a:xfrm>
          <a:prstGeom prst="ellipse">
            <a:avLst/>
          </a:prstGeom>
          <a:solidFill>
            <a:srgbClr val="0F1B1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3192" y="2520544"/>
            <a:ext cx="399593" cy="3995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200400"/>
            <a:ext cx="29443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Importação de provas por PDF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4114800"/>
            <a:ext cx="29443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questões e alternativas de PDFs oficiais (ENEM, FUVEST, UNICAMP) com a biblioteca PdfPig + regex — populando o banco sem digitação manual.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15968" y="1874520"/>
            <a:ext cx="3584448" cy="41605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17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36008" y="213055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6665976" y="2286000"/>
            <a:ext cx="868680" cy="868680"/>
          </a:xfrm>
          <a:prstGeom prst="ellipse">
            <a:avLst/>
          </a:prstGeom>
          <a:solidFill>
            <a:srgbClr val="0F1B1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520544"/>
            <a:ext cx="399593" cy="3995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200400"/>
            <a:ext cx="29443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 com Inteligência Artificial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63440" y="4114800"/>
            <a:ext cx="29443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 Groq (Llama 3.3 70B, Llama 3.1, Gemma2) com fallback automático entre modelos para explicar questões de forma didática.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83296" y="1874520"/>
            <a:ext cx="3584448" cy="41605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17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403336" y="2130552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B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Shape 15"/>
          <p:cNvSpPr/>
          <p:nvPr/>
        </p:nvSpPr>
        <p:spPr>
          <a:xfrm>
            <a:off x="10433304" y="2286000"/>
            <a:ext cx="868680" cy="868680"/>
          </a:xfrm>
          <a:prstGeom prst="ellipse">
            <a:avLst/>
          </a:prstGeom>
          <a:solidFill>
            <a:srgbClr val="0F1B1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848" y="2520544"/>
            <a:ext cx="399593" cy="3995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30768" y="3200400"/>
            <a:ext cx="29443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Aplicativo que funciona offline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30768" y="4114800"/>
            <a:ext cx="294436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 com expiração (AsyncStorage) mantém dados essenciais disponíveis mesmo sem conexão com a internet.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SEGURANÇA &amp; DADOS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Privacidade levada a sério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6811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63140"/>
            <a:ext cx="914400" cy="91440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5100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828800"/>
            <a:ext cx="382219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com hash SHA-256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armazenadas em texto puro.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828800"/>
            <a:ext cx="546811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2263140"/>
            <a:ext cx="914400" cy="91440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51002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1828800"/>
            <a:ext cx="382219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token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com expiração e validação por requisição.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546811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229100"/>
            <a:ext cx="914400" cy="91440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47598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5960" y="3794760"/>
            <a:ext cx="382219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só enxerga os próprios dados (bloqueio 403).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172200" y="3794760"/>
            <a:ext cx="546811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92240" y="4229100"/>
            <a:ext cx="914400" cy="91440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47598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89520" y="3794760"/>
            <a:ext cx="382219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fora do código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de ambiente e arquivos .example.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a LGPD </a:t>
            </a:r>
            <a:pPr algn="ctr" indent="0" marL="0">
              <a:buNone/>
            </a:pPr>
            <a:r>
              <a:rPr lang="en-US" sz="1300" dirty="0">
                <a:solidFill>
                  <a:srgbClr val="14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considerada desde o início do projeto.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ALCANÇADOS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foi efetivamente entregue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F1B17"/>
          </a:solidFill>
          <a:ln/>
          <a:effectLst>
            <a:outerShdw sx="100000" sy="100000" kx="0" ky="0" algn="bl" rotWithShape="0" blurRad="114300" dist="38100" dir="5400000">
              <a:srgbClr val="0F1B17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+2.500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620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back-end (C#)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783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F1B17"/>
          </a:solidFill>
          <a:ln/>
          <a:effectLst>
            <a:outerShdw sx="100000" sy="100000" kx="0" ky="0" algn="bl" rotWithShape="0" blurRad="114300" dist="38100" dir="5400000">
              <a:srgbClr val="0F1B17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9659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28620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F1B17"/>
          </a:solidFill>
          <a:ln/>
          <a:effectLst>
            <a:outerShdw sx="100000" sy="100000" kx="0" ky="0" algn="bl" rotWithShape="0" blurRad="114300" dist="38100" dir="5400000">
              <a:srgbClr val="0F1B17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9659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92240" y="28620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modeladas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b="1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funcional de ponta a ponta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API + aplicativo Android empacotado (EAS Build)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populado com provas e questões reais importadas de PDF</a:t>
            </a:r>
            <a:endParaRPr lang="en-US" sz="1400" dirty="0"/>
          </a:p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com IA integrado e funcionando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ENTREGÁVEIS DO PROJETO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63640" y="3931920"/>
          <a:ext cx="53949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75E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DESAFIOS &amp; PRÓXIMOS PASSOS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aprendemos e o que vem aí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9824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sx="100000" sy="100000" kx="0" ky="0" algn="bl" rotWithShape="0" blurRad="88900" dist="25400" dir="5400000">
              <a:srgbClr val="26332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713232" cy="713232"/>
          </a:xfrm>
          <a:prstGeom prst="ellipse">
            <a:avLst/>
          </a:prstGeom>
          <a:solidFill>
            <a:srgbClr val="FFF3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253" y="224997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Desafios &amp; aprendizados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a extração de PDFs com layouts diferentes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requisição da IA — resolvido com fallback de modelos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de dados no modo offline do app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F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entre web, mobile e uma API única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0488" y="1783080"/>
            <a:ext cx="5449824" cy="4297680"/>
          </a:xfrm>
          <a:prstGeom prst="roundRect">
            <a:avLst>
              <a:gd name="adj" fmla="val 1915"/>
            </a:avLst>
          </a:prstGeom>
          <a:solidFill>
            <a:srgbClr val="0F1B17"/>
          </a:solidFill>
          <a:ln/>
          <a:effectLst>
            <a:outerShdw sx="100000" sy="100000" kx="0" ky="0" algn="bl" rotWithShape="0" blurRad="114300" dist="38100" dir="5400000">
              <a:srgbClr val="0F1B17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2057400"/>
            <a:ext cx="713232" cy="713232"/>
          </a:xfrm>
          <a:prstGeom prst="ellipse">
            <a:avLst/>
          </a:prstGeom>
          <a:solidFill>
            <a:srgbClr val="FFD55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101" y="2249973"/>
            <a:ext cx="328087" cy="3280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33488" y="2057400"/>
            <a:ext cx="4114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Trabalhos futuros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56248" y="29718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real via gateway / PIX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iOS do aplicativo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relatórios e analytics para a instituição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de redação por IA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D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multi-instituição (multi-tenant / white-label)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" y="64373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OMAVEST  ·  Trabalho de Conclusão de Curso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89920" y="643737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943600" cy="5943600"/>
          </a:xfrm>
          <a:prstGeom prst="ellipse">
            <a:avLst/>
          </a:prstGeom>
          <a:solidFill>
            <a:srgbClr val="14241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657600"/>
            <a:ext cx="4937760" cy="4937760"/>
          </a:xfrm>
          <a:prstGeom prst="ellipse">
            <a:avLst/>
          </a:prstGeom>
          <a:solidFill>
            <a:srgbClr val="275E4C"/>
          </a:solidFill>
          <a:ln/>
        </p:spPr>
      </p:sp>
      <p:pic>
        <p:nvPicPr>
          <p:cNvPr id="4" name="Image 0" descr="D:\joaomenkdev-cloud\Projetos-pessoais\Sites\Etec\L-hub\apresentacao-tcc/images/logo-omavest-e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640080"/>
            <a:ext cx="15087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488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D5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514600"/>
            <a:ext cx="103601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OMAVEST entrega uma solução integrada,</a:t>
            </a:r>
            <a:endParaRPr lang="en-US" sz="2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baixo custo e moderna para um nicho</a:t>
            </a:r>
            <a:endParaRPr lang="en-US" sz="2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 desatendido do mercado educacional.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371600" y="43434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processo seletivo + preparação do candidato, em uma única plataforma web e mobile.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98848" y="516636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FFD557"/>
          </a:solidFill>
          <a:ln/>
        </p:spPr>
      </p:sp>
      <p:sp>
        <p:nvSpPr>
          <p:cNvPr id="9" name="Text 6"/>
          <p:cNvSpPr/>
          <p:nvPr/>
        </p:nvSpPr>
        <p:spPr>
          <a:xfrm>
            <a:off x="4498848" y="51663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  Perguntas?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1]  ·  [Nome 2]  ·  [Nome 3]  ·  [Nome 4]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OMAVEST — TCC</dc:title>
  <dc:subject>PptxGenJS Presentation</dc:subject>
  <dc:creator>Grupo OMAVEST</dc:creator>
  <cp:lastModifiedBy>Grupo OMAVEST</cp:lastModifiedBy>
  <cp:revision>1</cp:revision>
  <dcterms:created xsi:type="dcterms:W3CDTF">2026-10-20T20:07:47Z</dcterms:created>
  <dcterms:modified xsi:type="dcterms:W3CDTF">2026-10-20T20:07:47Z</dcterms:modified>
</cp:coreProperties>
</file>